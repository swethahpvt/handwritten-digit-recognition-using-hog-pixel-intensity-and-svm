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65E-48C3-A8AF-610B141CBB5A}"/>
              </c:ext>
            </c:extLst>
          </c:dPt>
          <c:dPt>
            <c:idx val="1"/>
            <c:invertIfNegative val="0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65E-48C3-A8AF-610B141CBB5A}"/>
              </c:ext>
            </c:extLst>
          </c:dPt>
          <c:dPt>
            <c:idx val="2"/>
            <c:invertIfNegative val="0"/>
            <c:bubble3D val="0"/>
            <c:spPr>
              <a:solidFill>
                <a:srgbClr val="1A2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65E-48C3-A8AF-610B141CBB5A}"/>
              </c:ext>
            </c:extLst>
          </c:dPt>
          <c:dPt>
            <c:idx val="3"/>
            <c:invertIfNegative val="0"/>
            <c:bubble3D val="0"/>
            <c:spPr>
              <a:solidFill>
                <a:srgbClr val="1A2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65E-48C3-A8AF-610B141CBB5A}"/>
              </c:ext>
            </c:extLst>
          </c:dPt>
          <c:dPt>
            <c:idx val="4"/>
            <c:invertIfNegative val="0"/>
            <c:bubble3D val="0"/>
            <c:spPr>
              <a:solidFill>
                <a:srgbClr val="1A2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65E-48C3-A8AF-610B141CBB5A}"/>
              </c:ext>
            </c:extLst>
          </c:dPt>
          <c:dPt>
            <c:idx val="5"/>
            <c:invertIfNegative val="0"/>
            <c:bubble3D val="0"/>
            <c:spPr>
              <a:solidFill>
                <a:srgbClr val="1A2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965E-48C3-A8AF-610B141CBB5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2B4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Pixel+SVM</c:v>
                </c:pt>
                <c:pt idx="1">
                  <c:v>Pixel+KNN</c:v>
                </c:pt>
                <c:pt idx="2">
                  <c:v>HOG+LR</c:v>
                </c:pt>
                <c:pt idx="3">
                  <c:v>HOG+SVM</c:v>
                </c:pt>
                <c:pt idx="4">
                  <c:v>Pixel+RF</c:v>
                </c:pt>
                <c:pt idx="5">
                  <c:v>HOG+KNN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98.1</c:v>
                </c:pt>
                <c:pt idx="1">
                  <c:v>97.4</c:v>
                </c:pt>
                <c:pt idx="2">
                  <c:v>96.7</c:v>
                </c:pt>
                <c:pt idx="3">
                  <c:v>95.6</c:v>
                </c:pt>
                <c:pt idx="4">
                  <c:v>95.2</c:v>
                </c:pt>
                <c:pt idx="5">
                  <c:v>95.7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965E-48C3-A8AF-610B141CBB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9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4825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74320"/>
            <a:ext cx="256032" cy="256032"/>
          </a:xfrm>
          <a:prstGeom prst="rect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74320"/>
            <a:ext cx="256032" cy="256032"/>
          </a:xfrm>
          <a:prstGeom prst="rect">
            <a:avLst/>
          </a:prstGeom>
          <a:solidFill>
            <a:srgbClr val="0D9488">
              <a:alpha val="35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74320"/>
            <a:ext cx="256032" cy="256032"/>
          </a:xfrm>
          <a:prstGeom prst="rect">
            <a:avLst/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274320"/>
            <a:ext cx="256032" cy="256032"/>
          </a:xfrm>
          <a:prstGeom prst="rect">
            <a:avLst/>
          </a:prstGeom>
          <a:solidFill>
            <a:srgbClr val="0D9488">
              <a:alpha val="45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274320"/>
            <a:ext cx="256032" cy="256032"/>
          </a:xfrm>
          <a:prstGeom prst="rect">
            <a:avLst/>
          </a:prstGeom>
          <a:solidFill>
            <a:srgbClr val="0D9488">
              <a:alpha val="5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57400" y="274320"/>
            <a:ext cx="256032" cy="256032"/>
          </a:xfrm>
          <a:prstGeom prst="rect">
            <a:avLst/>
          </a:prstGeom>
          <a:solidFill>
            <a:srgbClr val="0D9488">
              <a:alpha val="55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274320"/>
            <a:ext cx="256032" cy="256032"/>
          </a:xfrm>
          <a:prstGeom prst="rect">
            <a:avLst/>
          </a:prstGeom>
          <a:solidFill>
            <a:srgbClr val="0D9488">
              <a:alpha val="60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97480" y="274320"/>
            <a:ext cx="256032" cy="256032"/>
          </a:xfrm>
          <a:prstGeom prst="rect">
            <a:avLst/>
          </a:prstGeom>
          <a:solidFill>
            <a:srgbClr val="0D9488">
              <a:alpha val="65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DIGIT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HOG, Pixel Intensity &amp; Support Vector Machine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114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 •  SVM Classification  •  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98.1% Accuracy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9144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812280" y="9144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001000" y="9144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0100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95360" y="91440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7920" y="1554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812280" y="1554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406640" y="1554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001000" y="1554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40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010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8595360" y="15544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0D9488">
              <a:alpha val="25000"/>
            </a:srgbClr>
          </a:solidFill>
          <a:ln w="12700">
            <a:solidFill>
              <a:srgbClr val="0D9488">
                <a:alpha val="6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5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Dataset  |  Python 3.11  |  Streamlit Web 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2743200" cy="10972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2743200" cy="685800"/>
          </a:xfrm>
          <a:prstGeom prst="rect">
            <a:avLst/>
          </a:prstGeom>
          <a:solidFill>
            <a:srgbClr val="1A2B4A">
              <a:alpha val="12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14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60020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handwritten digits (0–9) from the MNIST dataset using machine learning techniques combining feature extraction and SVM classification.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82296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22960"/>
            <a:ext cx="2743200" cy="1097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822960"/>
            <a:ext cx="2743200" cy="68580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914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160020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three feature extraction methods — Pixel Intensity, HOG, and Zernike Moments — across four classifiers to identify the best combination.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82296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22960"/>
            <a:ext cx="27432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822960"/>
            <a:ext cx="2743200" cy="68580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914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60020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Pixel + SVM achieves 98.1% accuracy, deployed as an interactive Streamlit web app accessible via live demo.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 DATASET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3716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8686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70,000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2004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grayscale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822960"/>
            <a:ext cx="1920240" cy="13716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8686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85.7% of data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822960"/>
            <a:ext cx="1920240" cy="13716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17720" y="8686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1772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772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 of data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20840" y="822960"/>
            <a:ext cx="1920240" cy="13716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8686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6656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 0–9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2423160"/>
            <a:ext cx="85953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2514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 Class Distribution  &amp;  Image Format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7200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87552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7552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17904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17904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048256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48256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048256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578608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7860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2578608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108960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0896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108960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39312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639312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69664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69664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169664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700016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00016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700016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230368" y="29260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0D9488">
              <a:alpha val="70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3036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230368" y="3429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~7K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943600" y="28346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Size: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× 28 pixels (784 features)
</a:t>
            </a: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Range: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255 (grayscale)
</a:t>
            </a: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Normalization: 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to [0, 1] for training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 METHODS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2743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777240"/>
            <a:ext cx="2743200" cy="914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685800" cy="256032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280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Intensity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pixel values from 28×28 images normalized to [0,1], flattened to 784 features. PCA reduces to 75 components for efficient classification.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2468880" cy="292608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898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784 features → PCA → 75 components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accuracy (98.1%)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36758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fine-grained detail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405993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preprocessing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54680" y="777240"/>
            <a:ext cx="2743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154680" y="777240"/>
            <a:ext cx="2743200" cy="914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91840" y="960120"/>
            <a:ext cx="685800" cy="256032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9601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91840" y="1280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 Features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17373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of Oriented Gradients captures edge structure. Parameters: pixels_per_cell=(4,4), cells_per_block=(2,2), orientations=9.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2880360"/>
            <a:ext cx="2468880" cy="292608"/>
          </a:xfrm>
          <a:prstGeom prst="rect">
            <a:avLst/>
          </a:prstGeom>
          <a:solidFill>
            <a:srgbClr val="1A2B4A">
              <a:alpha val="12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98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&amp; gradient structure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91840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thickness variations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0" y="36758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accuracy (95.6%)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91840" y="405993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generalization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777240"/>
            <a:ext cx="2743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777240"/>
            <a:ext cx="2743200" cy="9144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960120"/>
            <a:ext cx="685800" cy="256032"/>
          </a:xfrm>
          <a:prstGeom prst="roundRect">
            <a:avLst>
              <a:gd name="adj" fmla="val 14286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9601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17920" y="1280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Zernike Moments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17920" y="17373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global shape information using orthogonal polynomials. Parameters: radius=10, degree=8. Rotation-invariant representation.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2880360"/>
            <a:ext cx="2468880" cy="292608"/>
          </a:xfrm>
          <a:prstGeom prst="rect">
            <a:avLst/>
          </a:prstGeom>
          <a:solidFill>
            <a:srgbClr val="475569">
              <a:alpha val="12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3640" y="28986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radius=10, degree=8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17920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Rotation-invariant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17920" y="36758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shape info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405993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accuracy (84.9%)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8412480" cy="219456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/ Classifier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Intensity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A2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Zernike Moments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Chart 0"/>
          <p:cNvGraphicFramePr/>
          <p:nvPr/>
        </p:nvGraphicFramePr>
        <p:xfrm>
          <a:off x="365760" y="3566160"/>
          <a:ext cx="84124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PREDICTION PIPELINE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508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8961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896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Image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handwritten digit image via Streamlit UI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83080" y="2148840"/>
            <a:ext cx="201168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84248" y="822960"/>
            <a:ext cx="1508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05456" y="8961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05456" y="896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075688" y="14630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75688" y="196596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grayscale, resize to 28×28 pixels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93008" y="2148840"/>
            <a:ext cx="201168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94176" y="822960"/>
            <a:ext cx="1508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15384" y="8961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896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85616" y="14630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85616" y="196596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values scaled from 0–255 to [0, 1]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02936" y="2148840"/>
            <a:ext cx="201168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04104" y="822960"/>
            <a:ext cx="1508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925312" y="8961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25312" y="896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95544" y="14630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Reduction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95544" y="196596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 784 features → reduce to 75 principal components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12864" y="2148840"/>
            <a:ext cx="201168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14032" y="822960"/>
            <a:ext cx="1508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35240" y="8961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896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14630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Predict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205472" y="1965960"/>
            <a:ext cx="1325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SVM classifier outputs digit class (0–9)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3931920"/>
            <a:ext cx="859536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Digit (0–9)  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Model Accuracy: 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98.1%  </a:t>
            </a: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Framework: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SVM + PCA + Streamlit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PROJECT STRUCTURE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10972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8229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54680" y="822960"/>
            <a:ext cx="109728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9326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298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SVM, PCA, ML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8229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822960"/>
            <a:ext cx="109728" cy="914400"/>
          </a:xfrm>
          <a:prstGeom prst="rect">
            <a:avLst/>
          </a:prstGeom>
          <a:solidFill>
            <a:srgbClr val="FF4B4B"/>
          </a:solidFill>
          <a:ln w="12700">
            <a:solidFill>
              <a:srgbClr val="FF4B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9326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298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920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920240"/>
            <a:ext cx="109728" cy="914400"/>
          </a:xfrm>
          <a:prstGeom prst="rect">
            <a:avLst/>
          </a:prstGeom>
          <a:solidFill>
            <a:srgbClr val="4C8CBF"/>
          </a:solidFill>
          <a:ln w="12700">
            <a:solidFill>
              <a:srgbClr val="4C8C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029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operations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1920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920240"/>
            <a:ext cx="109728" cy="9144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029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processing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1920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920240"/>
            <a:ext cx="109728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0299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MNIST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70K digit dataset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108960"/>
            <a:ext cx="8595360" cy="1783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720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Files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3566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Streamlit web application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code.ipynb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Full experimentation notebook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206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model.pkl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Trained Pixel SVM model + PCA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3566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Python dependencies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runtime.txt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Python version for deployment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5029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Render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19072"/>
            <a:ext cx="457200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719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(Free Web Service)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04872"/>
            <a:ext cx="457200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048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Command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90672"/>
            <a:ext cx="457200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0906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run app.py --server.port $PORT --server.address 0.0.0.0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Version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76472"/>
            <a:ext cx="4572000" cy="274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776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777240"/>
            <a:ext cx="3291840" cy="4114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762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760720" y="914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Locally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0" y="1417320"/>
            <a:ext cx="3017520" cy="347472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0" y="143560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&lt;repo-url&gt;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0" y="2103120"/>
            <a:ext cx="3017520" cy="347472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212140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&lt;project-folder&gt;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0" y="2788920"/>
            <a:ext cx="3017520" cy="347472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280720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0" y="3474720"/>
            <a:ext cx="3017520" cy="347472"/>
          </a:xfrm>
          <a:prstGeom prst="rect">
            <a:avLst/>
          </a:prstGeom>
          <a:solidFill>
            <a:srgbClr val="0F1C2E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15000" y="349300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run app.py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14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4023360" cy="137160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</a:rPr>
              <a:t>★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Pixel + SVM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98.1% accuracy — the highest among all 12 feature-classifier combinations tested on MNIST.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280160"/>
            <a:ext cx="4023360" cy="137160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</a:rPr>
              <a:t>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Quality Matters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8288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Intensity outperforms HOG and Zernike Moments. PCA dimensionality reduction is key to efficiency.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023360" cy="137160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</a:rPr>
              <a:t>▲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2926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&amp; Accessible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383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web app on Render lets anyone upload a digit image and receive a real-time prediction.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4023360" cy="137160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</a:rPr>
              <a:t>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2926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Study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383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comparison across 3 features × 4 classifiers provides clear insights for digit recognition tasks.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0" y="4663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715</Words>
  <Application>Microsoft Office PowerPoint</Application>
  <PresentationFormat>On-screen Show (16:9)</PresentationFormat>
  <Paragraphs>174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Handwritten Digit Recognition Using HOG, Pixel Intensity, and SVM</dc:title>
  <dc:subject>PptxGenJS Presentation</dc:subject>
  <dc:creator>PptxGenJS</dc:creator>
  <cp:lastModifiedBy>hibamadathil@gmail.com</cp:lastModifiedBy>
  <cp:revision>2</cp:revision>
  <dcterms:created xsi:type="dcterms:W3CDTF">2026-04-20T10:58:38Z</dcterms:created>
  <dcterms:modified xsi:type="dcterms:W3CDTF">2026-04-21T02:58:27Z</dcterms:modified>
</cp:coreProperties>
</file>